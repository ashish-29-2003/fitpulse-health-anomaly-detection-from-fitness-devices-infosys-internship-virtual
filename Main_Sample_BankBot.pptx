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hv5d3nyxi6oywHYLxtdIEu7oFJ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D2D3E6-FC0B-44BD-9CFE-FBEE425C3E3A}">
  <a:tblStyle styleId="{26D2D3E6-FC0B-44BD-9CFE-FBEE425C3E3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3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5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6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7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jpg"/><Relationship Id="rId4" Type="http://schemas.openxmlformats.org/officeDocument/2006/relationships/image" Target="../media/image5.jpg"/><Relationship Id="rId5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4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Relationship Id="rId4" Type="http://schemas.openxmlformats.org/officeDocument/2006/relationships/image" Target="../media/image5.jpg"/><Relationship Id="rId5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jpg"/><Relationship Id="rId4" Type="http://schemas.openxmlformats.org/officeDocument/2006/relationships/image" Target="../media/image3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jp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Relationship Id="rId4" Type="http://schemas.openxmlformats.org/officeDocument/2006/relationships/image" Target="../media/image1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jpg"/><Relationship Id="rId4" Type="http://schemas.openxmlformats.org/officeDocument/2006/relationships/image" Target="../media/image4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jpg"/><Relationship Id="rId4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jpg"/><Relationship Id="rId4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jpg"/><Relationship Id="rId4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jpg"/><Relationship Id="rId4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Relationship Id="rId4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71000"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144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513471" y="330591"/>
            <a:ext cx="717451" cy="970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91441" y="1301262"/>
            <a:ext cx="3119890" cy="970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4500"/>
              <a:buFont typeface="Arial"/>
              <a:buNone/>
            </a:pPr>
            <a:r>
              <a:rPr b="1" i="0" lang="en-IN" sz="4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Bank Bot 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-189913" y="2271933"/>
            <a:ext cx="3401244" cy="2300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IN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AI Chatbot For Banking FAQs</a:t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3975712" y="3712845"/>
            <a:ext cx="1192456" cy="18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white board with a gold frame&#10;&#10;AI-generated content may be incorrect." id="17" name="Google Shape;1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91450" y="0"/>
            <a:ext cx="938026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 txBox="1"/>
          <p:nvPr/>
        </p:nvSpPr>
        <p:spPr>
          <a:xfrm>
            <a:off x="2948940" y="857263"/>
            <a:ext cx="390144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BANKBOT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AI CHATBOT FOR BANKING QUESTIONS</a:t>
            </a:r>
            <a:endParaRPr b="1"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38000"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700"/>
              <a:buFont typeface="Arial"/>
              <a:buNone/>
            </a:pPr>
            <a:r>
              <a:rPr b="1" lang="en-IN" sz="27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⚠️ Problem Statement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914400" y="1249680"/>
            <a:ext cx="7620000" cy="227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1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⏱️ Customers face delays in getting banking support</a:t>
            </a:r>
            <a:endParaRPr/>
          </a:p>
          <a:p>
            <a:pPr indent="-215900" lvl="0" marL="342900" marR="0" rtl="0" algn="l">
              <a:lnSpc>
                <a:spcPct val="121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1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💰 Manual customer service is costly and slow</a:t>
            </a:r>
            <a:endParaRPr/>
          </a:p>
          <a:p>
            <a:pPr indent="-215900" lvl="0" marL="342900" marR="0" rtl="0" algn="l">
              <a:lnSpc>
                <a:spcPct val="121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1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⏰ 24/7 availability is critical for customer satisfaction</a:t>
            </a:r>
            <a:endParaRPr/>
          </a:p>
          <a:p>
            <a:pPr indent="-215900" lvl="0" marL="342900" marR="0" rtl="0" algn="l">
              <a:lnSpc>
                <a:spcPct val="121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1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📞 Repetitive queries consume significant resources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32000"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700"/>
              <a:buFont typeface="Arial"/>
              <a:buNone/>
            </a:pPr>
            <a:r>
              <a:rPr b="1" lang="en-IN" sz="27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✨ </a:t>
            </a:r>
            <a:r>
              <a:rPr b="1" lang="en-IN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Intelligent Chatbot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🧠 AI-powered NLU for intent &amp; entity recognition</a:t>
            </a:r>
            <a:endParaRPr/>
          </a:p>
          <a:p>
            <a:pPr indent="-190500" lvl="0" marL="3429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🌐 Web interface built with Streamlit</a:t>
            </a:r>
            <a:endParaRPr sz="24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💾 SQLite backend for account &amp; knowledge base</a:t>
            </a:r>
            <a:endParaRPr/>
          </a:p>
          <a:p>
            <a:pPr indent="-190500" lvl="0" marL="3429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125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🔄 Supports both rule-based &amp; ML approaches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38000"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7175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and white background with leaves&#10;&#10;AI-generated content may be incorrect." id="41" name="Google Shape;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/>
          <p:nvPr/>
        </p:nvSpPr>
        <p:spPr>
          <a:xfrm>
            <a:off x="2453640" y="603350"/>
            <a:ext cx="560832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🧠 Module 1: Intent &amp; Entity Recognition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1280160" y="1373208"/>
            <a:ext cx="65151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📋 Define key intents: balance check, transfer money, card block , find atm, loan inquiry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🔍 Extract entities: amount , account number , location, account type, recipient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🤖 NLU model using spaCy or Rasa for classification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📦 Slot filling for structured data collection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colorful feathers&#10;&#10;AI-generated content may be incorrect."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3" y="0"/>
            <a:ext cx="9141537" cy="523220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 txBox="1"/>
          <p:nvPr/>
        </p:nvSpPr>
        <p:spPr>
          <a:xfrm>
            <a:off x="2064434" y="287440"/>
            <a:ext cx="660478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r>
              <a:rPr b="1" lang="en-IN" sz="18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Natural Language Understanding Pipeline</a:t>
            </a:r>
            <a:endParaRPr b="1" sz="2400">
              <a:solidFill>
                <a:srgbClr val="833C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 screen&#10;&#10;AI-generated content may be incorrect."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677" y="518272"/>
            <a:ext cx="9080695" cy="4475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7175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3467100" y="176838"/>
            <a:ext cx="30175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TECHNOLOGIES</a:t>
            </a: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USED</a:t>
            </a:r>
            <a:endParaRPr sz="24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278130" y="815340"/>
            <a:ext cx="8633460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 Intent &amp; Entity Engine: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DEA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DEAF6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rgbClr val="DDEAF6"/>
                </a:solidFill>
                <a:latin typeface="Calibri"/>
                <a:ea typeface="Calibri"/>
                <a:cs typeface="Calibri"/>
                <a:sym typeface="Calibri"/>
              </a:rPr>
              <a:t>spaCy for NER, tokenization, POS tagging and basic intent/entity experiments.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DEAF6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rgbClr val="DDEAF6"/>
                </a:solidFill>
                <a:latin typeface="Calibri"/>
                <a:ea typeface="Calibri"/>
                <a:cs typeface="Calibri"/>
                <a:sym typeface="Calibri"/>
              </a:rPr>
              <a:t>BERT Transformers (Hugging Face) for intent classification and sentence embeddings.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DEAF6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rgbClr val="DDEAF6"/>
                </a:solidFill>
                <a:latin typeface="Calibri"/>
                <a:ea typeface="Calibri"/>
                <a:cs typeface="Calibri"/>
                <a:sym typeface="Calibri"/>
              </a:rPr>
              <a:t>Rasa NLU for combined intent and entity recognition with training data in YAML.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DEAF6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rgbClr val="DDEAF6"/>
                </a:solidFill>
                <a:latin typeface="Calibri"/>
                <a:ea typeface="Calibri"/>
                <a:cs typeface="Calibri"/>
                <a:sym typeface="Calibri"/>
              </a:rPr>
              <a:t>Python 3.9+ with libraries like NumPy/Pandas for data prep and experimentation.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DEA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Dialogue &amp; Responses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DEAF6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rgbClr val="DDEAF6"/>
                </a:solidFill>
                <a:latin typeface="Calibri"/>
                <a:ea typeface="Calibri"/>
                <a:cs typeface="Calibri"/>
                <a:sym typeface="Calibri"/>
              </a:rPr>
              <a:t>Rasa (core/dialogue policies) or custom Python state machine for dialogue flow and slot filling.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DEAF6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rgbClr val="DDEAF6"/>
                </a:solidFill>
                <a:latin typeface="Calibri"/>
                <a:ea typeface="Calibri"/>
                <a:cs typeface="Calibri"/>
                <a:sym typeface="Calibri"/>
              </a:rPr>
              <a:t>FastAPI for REST APIs to connect NLU engine with frontend and database.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DEAF6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rgbClr val="DDEAF6"/>
                </a:solidFill>
                <a:latin typeface="Calibri"/>
                <a:ea typeface="Calibri"/>
                <a:cs typeface="Calibri"/>
                <a:sym typeface="Calibri"/>
              </a:rPr>
              <a:t>SQLite 3 for storing user accounts, session data, and FAQs/knowledge base.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DEAF6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rgbClr val="DDEAF6"/>
                </a:solidFill>
                <a:latin typeface="Calibri"/>
                <a:ea typeface="Calibri"/>
                <a:cs typeface="Calibri"/>
                <a:sym typeface="Calibri"/>
              </a:rPr>
              <a:t>Template-based response generation in Python (Jinja-style or f-strings) for clear, context-aware replies.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oup of blue and yellow gears&#10;&#10;AI-generated content may be incorrect." id="61" name="Google Shape;6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9540" y="-176838"/>
            <a:ext cx="9654540" cy="5320338"/>
          </a:xfrm>
          <a:prstGeom prst="rect">
            <a:avLst/>
          </a:prstGeom>
          <a:noFill/>
          <a:ln>
            <a:noFill/>
          </a:ln>
          <a:effectLst>
            <a:reflection blurRad="0" dir="5400000" dist="190500" endA="0" endPos="65000" kx="0" rotWithShape="0" algn="bl" stA="60000" stPos="0" sy="-100000" ky="0"/>
          </a:effectLst>
        </p:spPr>
      </p:pic>
      <p:sp>
        <p:nvSpPr>
          <p:cNvPr id="62" name="Google Shape;62;p6"/>
          <p:cNvSpPr txBox="1"/>
          <p:nvPr/>
        </p:nvSpPr>
        <p:spPr>
          <a:xfrm>
            <a:off x="3977640" y="91604"/>
            <a:ext cx="34671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b="1" sz="18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1569720" y="501610"/>
            <a:ext cx="762000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Intent &amp; Entity Engine: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spaCy for NER, tokenization, POS tagging and basic intent/entity experiments.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 Transformers (Hugging Face) for intent classification and sentence embeddings.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Rasa NLU for combined intent and entity recognition with training data in YAML.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3.9+ with libraries like NumPy/Pandas for data prep and experimentation.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7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IN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Outcome:</a:t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838200" y="2057400"/>
            <a:ext cx="7616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838200" y="2331720"/>
            <a:ext cx="7616952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838200" y="3272791"/>
            <a:ext cx="7616952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838200" y="3775711"/>
            <a:ext cx="7616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838200" y="4050030"/>
            <a:ext cx="7616952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75" name="Google Shape;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624" y="1130962"/>
            <a:ext cx="8083296" cy="3669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38000"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7175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nk and white background with a white border&#10;&#10;AI-generated content may be incorrect." id="84" name="Google Shape;8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8"/>
          <p:cNvSpPr txBox="1"/>
          <p:nvPr/>
        </p:nvSpPr>
        <p:spPr>
          <a:xfrm>
            <a:off x="2164080" y="265718"/>
            <a:ext cx="4888992" cy="459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Arial"/>
              <a:buNone/>
            </a:pPr>
            <a:r>
              <a:rPr b="1" lang="en-IN" sz="18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💬 Module 2: Dialogue Management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1676400" y="582617"/>
            <a:ext cx="618744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🔀 Manage conversation flow and context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❓ Handle clarifications and follow-up questions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📝 Maintain conversation history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⚡ Gracefully handle out-of-scope queries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🗄️ Query backend database for relevant information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📄 Generate context-aware natural language responses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✨ Format responses for clarity and accuracy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 Support multiple response templates for variety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Milestone 2: Dialogue Manager Workflow - Multi-Component Architecture" id="91" name="Google Shape;91;p9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white and blue background with pink and blue shapes&#10;&#10;AI-generated content may be incorrect." id="92" name="Google Shape;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71" y="0"/>
            <a:ext cx="908772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computer&#10;&#10;AI-generated content may be incorrect." id="93" name="Google Shape;9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189914"/>
            <a:ext cx="9144000" cy="533341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9"/>
          <p:cNvSpPr txBox="1"/>
          <p:nvPr/>
        </p:nvSpPr>
        <p:spPr>
          <a:xfrm>
            <a:off x="211015" y="189914"/>
            <a:ext cx="31933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Dialogue Manager Architecture &amp; Workflow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0" name="Google Shape;1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5" marL="22860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white background with colorful shapes&#10;&#10;AI-generated content may be incorrect." id="103" name="Google Shape;10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2806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0"/>
          <p:cNvSpPr txBox="1"/>
          <p:nvPr/>
        </p:nvSpPr>
        <p:spPr>
          <a:xfrm>
            <a:off x="365760" y="609600"/>
            <a:ext cx="8412480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lang="en-IN" sz="2000">
                <a:solidFill>
                  <a:srgbClr val="222A35"/>
                </a:solidFill>
                <a:latin typeface="Calibri"/>
                <a:ea typeface="Calibri"/>
                <a:cs typeface="Calibri"/>
                <a:sym typeface="Calibri"/>
              </a:rPr>
              <a:t>Dialogue &amp; Responses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Rasa (core/dialogue policies) or custom Python state machine for dialogue flow and slot filling.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FastAPI for REST APIs to connect NLU engine with frontend and database.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3 for storing user accounts, session data, and FAQs/knowledge base.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Template-based response generation in Python (Jinja-style or f-strings) for clear, context-aware replies.</a:t>
            </a:r>
            <a:endParaRPr/>
          </a:p>
        </p:txBody>
      </p:sp>
      <p:sp>
        <p:nvSpPr>
          <p:cNvPr id="105" name="Google Shape;105;p10"/>
          <p:cNvSpPr txBox="1"/>
          <p:nvPr/>
        </p:nvSpPr>
        <p:spPr>
          <a:xfrm>
            <a:off x="2398542" y="436098"/>
            <a:ext cx="40374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          TECHNOLOGIES USED</a:t>
            </a:r>
            <a:endParaRPr b="1" sz="1800">
              <a:solidFill>
                <a:srgbClr val="833C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7175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 txBox="1"/>
          <p:nvPr/>
        </p:nvSpPr>
        <p:spPr>
          <a:xfrm>
            <a:off x="3817620" y="381000"/>
            <a:ext cx="23792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Outcome: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115" name="Google Shape;11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620" y="1071265"/>
            <a:ext cx="7923276" cy="3626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838200" y="1554480"/>
            <a:ext cx="761695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838200" y="2164082"/>
            <a:ext cx="7616952" cy="23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Font typeface="Calibri"/>
              <a:buNone/>
            </a:pPr>
            <a:r>
              <a:t/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838200" y="2401728"/>
            <a:ext cx="7616952" cy="202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Calibri"/>
              <a:buNone/>
            </a:pPr>
            <a:r>
              <a:t/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838200" y="3290176"/>
            <a:ext cx="761695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838200" y="3899776"/>
            <a:ext cx="7616952" cy="23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Font typeface="Calibri"/>
              <a:buNone/>
            </a:pPr>
            <a:r>
              <a:t/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838200" y="4137422"/>
            <a:ext cx="7616952" cy="202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Calibri"/>
              <a:buNone/>
            </a:pPr>
            <a:r>
              <a:t/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838200" y="5025865"/>
            <a:ext cx="761695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000"/>
              <a:buFont typeface="Arial"/>
              <a:buNone/>
            </a:pPr>
            <a:r>
              <a:rPr lang="en-IN" sz="30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838200" y="5635465"/>
            <a:ext cx="7616952" cy="23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60"/>
              <a:buFont typeface="Arial"/>
              <a:buNone/>
            </a:pPr>
            <a:r>
              <a:rPr b="1" lang="en-IN" sz="156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Rasa NLU</a:t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838200" y="5873116"/>
            <a:ext cx="7616952" cy="202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40"/>
              <a:buFont typeface="Arial"/>
              <a:buNone/>
            </a:pPr>
            <a:r>
              <a:rPr lang="en-IN" sz="114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Intent &amp; entity recognition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132" name="Google Shape;13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52" y="427275"/>
            <a:ext cx="8613648" cy="428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8" name="Google Shape;13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860" y="-687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838200" y="1554482"/>
            <a:ext cx="761695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838200" y="2164082"/>
            <a:ext cx="7616952" cy="23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Font typeface="Calibri"/>
              <a:buNone/>
            </a:pPr>
            <a:r>
              <a:t/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838200" y="2401728"/>
            <a:ext cx="7616952" cy="202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Calibri"/>
              <a:buNone/>
            </a:pPr>
            <a:r>
              <a:t/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838200" y="3290176"/>
            <a:ext cx="761695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838200" y="3899776"/>
            <a:ext cx="7616952" cy="23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Font typeface="Calibri"/>
              <a:buNone/>
            </a:pPr>
            <a:r>
              <a:t/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838200" y="4137422"/>
            <a:ext cx="7616952" cy="202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Calibri"/>
              <a:buNone/>
            </a:pPr>
            <a:r>
              <a:t/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838200" y="5025865"/>
            <a:ext cx="761695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000"/>
              <a:buFont typeface="Arial"/>
              <a:buNone/>
            </a:pPr>
            <a:r>
              <a:rPr lang="en-IN" sz="30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838200" y="5635465"/>
            <a:ext cx="7616952" cy="23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60"/>
              <a:buFont typeface="Arial"/>
              <a:buNone/>
            </a:pPr>
            <a:r>
              <a:rPr b="1" lang="en-IN" sz="156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838200" y="5873116"/>
            <a:ext cx="7616952" cy="202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40"/>
              <a:buFont typeface="Arial"/>
              <a:buNone/>
            </a:pPr>
            <a:r>
              <a:rPr lang="en-IN" sz="114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REST APIs, async processing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hatbot&#10;&#10;AI-generated content may be incorrect." id="149" name="Google Shape;14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" y="422643"/>
            <a:ext cx="8625840" cy="4298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5" name="Google Shape;1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87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4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838200" y="1554482"/>
            <a:ext cx="761695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838200" y="2164082"/>
            <a:ext cx="7616952" cy="23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Font typeface="Calibri"/>
              <a:buNone/>
            </a:pPr>
            <a:r>
              <a:t/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838200" y="2401728"/>
            <a:ext cx="7616952" cy="202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Calibri"/>
              <a:buNone/>
            </a:pPr>
            <a:r>
              <a:t/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838200" y="3290176"/>
            <a:ext cx="761695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838200" y="3899776"/>
            <a:ext cx="7616952" cy="23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Font typeface="Calibri"/>
              <a:buNone/>
            </a:pPr>
            <a:r>
              <a:t/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838200" y="4137422"/>
            <a:ext cx="7616952" cy="202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Calibri"/>
              <a:buNone/>
            </a:pPr>
            <a:r>
              <a:t/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838200" y="5025865"/>
            <a:ext cx="761695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838200" y="5635465"/>
            <a:ext cx="7616952" cy="23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60"/>
              <a:buFont typeface="Arial"/>
              <a:buNone/>
            </a:pPr>
            <a:r>
              <a:rPr b="1" lang="en-IN" sz="156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Git &amp; Docker</a:t>
            </a:r>
            <a:endParaRPr sz="15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838200" y="5873116"/>
            <a:ext cx="7616952" cy="202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40"/>
              <a:buFont typeface="Arial"/>
              <a:buNone/>
            </a:pPr>
            <a:r>
              <a:rPr lang="en-IN" sz="114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Version control, containerization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166" name="Google Shape;16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840" y="459921"/>
            <a:ext cx="8839200" cy="4223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pink surface&#10;&#10;AI-generated content may be incorrect." id="171" name="Google Shape;1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5"/>
          <p:cNvSpPr txBox="1"/>
          <p:nvPr/>
        </p:nvSpPr>
        <p:spPr>
          <a:xfrm>
            <a:off x="175846" y="119575"/>
            <a:ext cx="8911883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en-IN" sz="24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Module-3 : UI Integration &amp; LLM Implementation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 Overview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a production-ready banking chatbot by integrating a beautiful Streamlit web UI with an advanced LLM (Groq/Llama) to provide intelligent, conversational banking services.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📋 Key Objectives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UI Development → Interactive Streamlit chat interface with real-time messaging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Integration → Connect Groq API or Local Llama for enhanced responses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Wiring → Connect UI to Dialogue Manager (M2) &amp; SQLite database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Handling → Graceful failure handling and user-friendly messages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 Ready → User authentication, transaction logging, performance optimization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flowers on a yellow background&#10;&#10;AI-generated content may be incorrect."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780757" y="604911"/>
            <a:ext cx="7603587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⚙️ Main Components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Hybrid Dialogue Engine – Rule-based flows + LLM-powered responses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 Integration Layer – Groq/Llama with fallback mechanisms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Secure Database – SQLite with authentication &amp; transaction logging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Streamlit Chat UI – Multi-page app with chat, history, settings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Management – Exception handling, logging, graceful degradation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and pink background&#10;&#10;AI-generated content may be incorrect." id="183" name="Google Shape;1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computer system&#10;&#10;AI-generated content may be incorrect." id="184" name="Google Shape;1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756" y="1064419"/>
            <a:ext cx="6443663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1478756" y="385763"/>
            <a:ext cx="64436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b="1" lang="en-IN" sz="1800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UI Integration &amp; LLM-Powered Response Engine</a:t>
            </a:r>
            <a:endParaRPr b="1" sz="18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35857"/>
            <a:ext cx="9144000" cy="517935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1828800" y="471268"/>
            <a:ext cx="4944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</a:t>
            </a:r>
            <a:r>
              <a:rPr b="1" lang="en-IN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b="1"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18"/>
          <p:cNvGraphicFramePr/>
          <p:nvPr/>
        </p:nvGraphicFramePr>
        <p:xfrm>
          <a:off x="1033973" y="12379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{26D2D3E6-FC0B-44BD-9CFE-FBEE425C3E3A}</a:tableStyleId>
              </a:tblPr>
              <a:tblGrid>
                <a:gridCol w="3720900"/>
                <a:gridCol w="3720900"/>
              </a:tblGrid>
              <a:tr h="49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Component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Technology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1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Frontend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Streamlit</a:t>
                      </a:r>
                      <a:endParaRPr sz="18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NLU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spaCy / Transformers</a:t>
                      </a:r>
                      <a:endParaRPr sz="18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Dialogue Manager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Custom DialogueManager</a:t>
                      </a:r>
                      <a:endParaRPr sz="18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LLM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Groq API / Local Llama</a:t>
                      </a:r>
                      <a:endParaRPr sz="18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Database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SQLite + Python sqlite3</a:t>
                      </a:r>
                      <a:endParaRPr sz="18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Language</a:t>
                      </a:r>
                      <a:endParaRPr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Python 3.8+</a:t>
                      </a:r>
                      <a:endParaRPr sz="18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215" y="541606"/>
            <a:ext cx="7969348" cy="422623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3502854" y="0"/>
            <a:ext cx="3376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1" sz="28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7175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white background with leaves&#10;&#10;AI-generated content may be incorrect.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2011680" y="292120"/>
            <a:ext cx="75051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CHALLENGES AND SOLUTIONS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861060" y="1249682"/>
            <a:ext cx="774954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 Handling varied queries, slang, spelling mistakes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Robust NLU with spell-correction &amp; synonym mapping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 Limited labelled banking data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Transfer learning + data augmentation techniques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🔒 Secure &amp; privacy-compliant access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Encryption, role-based access, audit logging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💬 Multi-turn context management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DialogueManager with advanced state tracking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🔗 Integration with banking systems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Secure APIs, transaction logging, error handling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🤝 Building user trust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Transparent responses, explicit confirmations, detailed receipts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and green background&#10;&#10;AI-generated content may be incorrect.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161778" y="126609"/>
            <a:ext cx="8848579" cy="4616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r>
              <a:rPr b="1" lang="en-IN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Milestone-4: Admin Panel &amp; Knowledge Base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 Overview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a comprehensive admin control center with dashboard, training data management, and dynamic knowledge base for continuous chatbot improvement.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📋 Key Objectives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☑️ Admin Dashboard → Real-time query monitoring, success rates, and performance metrics visualization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☑️ Training Data Manager → Create and edit intents, entities, and training samples for model retraining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☑️ Knowledge Base System → Dynamic FAQ management and knowledge base updates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☑️ Query Analytics → Detailed logging with confidence scores and intent recognition accuracy tracking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☑️ Data Export → CSV export for logs, analytics, and compliance reporting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/>
        </p:nvSpPr>
        <p:spPr>
          <a:xfrm>
            <a:off x="2257865" y="-1060428"/>
            <a:ext cx="46282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analytics, and compliance reporting</a:t>
            </a:r>
            <a:endParaRPr/>
          </a:p>
        </p:txBody>
      </p:sp>
      <p:pic>
        <p:nvPicPr>
          <p:cNvPr descr="A close up of a blue and white background&#10;&#10;AI-generated content may be incorrect." id="222" name="Google Shape;2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63305"/>
            <a:ext cx="91440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23" name="Google Shape;22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3378" y="-63305"/>
            <a:ext cx="57888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633046" y="147711"/>
            <a:ext cx="263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Flow:</a:t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56271" y="133643"/>
            <a:ext cx="8968154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</a:t>
            </a:r>
            <a:r>
              <a:rPr b="1" lang="en-IN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Technologies Used: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Frontend: Streamlit, Python, HTML/CSS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Backend: Python, SQLite, FastAPI/Flask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NLP &amp; ML: spaCy, NLTK, scikit-learn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Analytics: Plotly, Pandas, Logging Module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Security: JWT, Bcrypt/Hashlib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Data Export: CSV, openpyxl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Tools: Git, VS Code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white floral background&#10;&#10;AI-generated content may be incorrect." id="235" name="Google Shape;2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0947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236" name="Google Shape;23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9230" y="578520"/>
            <a:ext cx="7385539" cy="3986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green and grey waves&#10;&#10;AI-generated content may be incorrect." id="241" name="Google Shape;2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242" name="Google Shape;2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562708"/>
            <a:ext cx="7568418" cy="4425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710" y="0"/>
            <a:ext cx="899628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248" name="Google Shape;2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826" y="365760"/>
            <a:ext cx="7779432" cy="4269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254" name="Google Shape;25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622" y="192003"/>
            <a:ext cx="7568418" cy="4492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259" name="Google Shape;25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185" y="144496"/>
            <a:ext cx="8517988" cy="4854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5" name="Google Shape;2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2399" y="-222738"/>
            <a:ext cx="9144000" cy="5366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9"/>
          <p:cNvSpPr/>
          <p:nvPr/>
        </p:nvSpPr>
        <p:spPr>
          <a:xfrm>
            <a:off x="4145125" y="1301116"/>
            <a:ext cx="853750" cy="853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3324044" y="2306957"/>
            <a:ext cx="24959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3920090" y="3084198"/>
            <a:ext cx="13038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3519570" y="3655698"/>
            <a:ext cx="2104742" cy="18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" y="-70338"/>
            <a:ext cx="9144000" cy="5366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2025-12-23T09:24:15Z</dcterms:created>
  <dc:creator>Perplexity</dc:creator>
</cp:coreProperties>
</file>